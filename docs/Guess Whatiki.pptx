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5143500" cx="9144000"/>
  <p:notesSz cx="51435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Open Sans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0" roundtripDataSignature="AMtx7mjFn6Dl9zQdmqj2bW094w6qqixy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OpenSans-bold.fntdata"/><Relationship Id="rId16" Type="http://schemas.openxmlformats.org/officeDocument/2006/relationships/font" Target="fonts/OpenSans-regular.fntdata"/><Relationship Id="rId5" Type="http://schemas.openxmlformats.org/officeDocument/2006/relationships/slide" Target="slides/slide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2.xml"/><Relationship Id="rId18" Type="http://schemas.openxmlformats.org/officeDocument/2006/relationships/font" Target="fonts/OpenSans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grvault?utm_content=creditCopyText&amp;utm_medium=referral&amp;utm_source=unsplash" TargetMode="External"/><Relationship Id="rId3" Type="http://schemas.openxmlformats.org/officeDocument/2006/relationships/hyperlink" Target="https://unsplash.com/@grvault?utm_content=creditCopyText&amp;utm_medium=referral&amp;utm_source=unsplash" TargetMode="External"/><Relationship Id="rId4" Type="http://schemas.openxmlformats.org/officeDocument/2006/relationships/hyperlink" Target="https://unsplash.com/photos/green-red-and-yellow-dartboard-Yc409-8V2pU?utm_content=creditCopyText&amp;utm_medium=referral&amp;utm_source=unsplash" TargetMode="External"/><Relationship Id="rId5" Type="http://schemas.openxmlformats.org/officeDocument/2006/relationships/hyperlink" Target="https://unsplash.com/photos/green-red-and-yellow-dartboard-Yc409-8V2pU?utm_content=creditCopyText&amp;utm_medium=referral&amp;utm_source=unsplash" TargetMode="Externa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unsplash.com/@helloimnik?utm_content=creditCopyText&amp;utm_medium=referral&amp;utm_source=unsplash" TargetMode="External"/><Relationship Id="rId3" Type="http://schemas.openxmlformats.org/officeDocument/2006/relationships/hyperlink" Target="https://unsplash.com/@helloimnik?utm_content=creditCopyText&amp;utm_medium=referral&amp;utm_source=unsplash" TargetMode="External"/><Relationship Id="rId4" Type="http://schemas.openxmlformats.org/officeDocument/2006/relationships/hyperlink" Target="https://unsplash.com/photos/white-nintendo-game-boy-lUbIun4IL38?utm_content=creditCopyText&amp;utm_medium=referral&amp;utm_source=unsplash" TargetMode="External"/><Relationship Id="rId5" Type="http://schemas.openxmlformats.org/officeDocument/2006/relationships/hyperlink" Target="https://unsplash.com/photos/white-nintendo-game-boy-lUbIun4IL38?utm_content=creditCopyText&amp;utm_medium=referral&amp;utm_source=unsplash" TargetMode="Externa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g3648fd6d69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g3648fd6d69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team members. You can add photos if you want [1 minute]</a:t>
            </a:r>
            <a:endParaRPr/>
          </a:p>
        </p:txBody>
      </p:sp>
      <p:sp>
        <p:nvSpPr>
          <p:cNvPr id="22" name="Google Shape;22;g3648fd6d69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Photo by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Marc A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on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Unsplash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100">
                <a:latin typeface="Arial"/>
                <a:ea typeface="Arial"/>
                <a:cs typeface="Arial"/>
                <a:sym typeface="Arial"/>
              </a:rPr>
              <a:t>Photo by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Nik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 on</a:t>
            </a:r>
            <a:r>
              <a:rPr lang="en-US" sz="1100">
                <a:solidFill>
                  <a:schemeClr val="hlink"/>
                </a:solidFill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/>
              </a:rPr>
              <a:t> </a:t>
            </a:r>
            <a:r>
              <a:rPr lang="en-US" sz="11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Unsplash</a:t>
            </a:r>
            <a:endParaRPr/>
          </a:p>
        </p:txBody>
      </p:sp>
      <p:sp>
        <p:nvSpPr>
          <p:cNvPr id="48" name="Google Shape;48;p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/>
              <a:t>Live demo - you can run your program with any website or IDE you choose. It’s important to practice this part a few times. [7 minutes]</a:t>
            </a:r>
            <a:endParaRPr>
              <a:highlight>
                <a:schemeClr val="lt1"/>
              </a:highlight>
            </a:endParaRPr>
          </a:p>
        </p:txBody>
      </p:sp>
      <p:sp>
        <p:nvSpPr>
          <p:cNvPr id="58" name="Google Shape;58;p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solidFill>
                <a:srgbClr val="374151"/>
              </a:solidFill>
              <a:highlight>
                <a:srgbClr val="F7F7F8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" name="Google Shape;64;p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" name="Google Shape;77;p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0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476254" y="477475"/>
            <a:ext cx="51708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4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600" u="none" cap="none" strike="noStrike">
                <a:solidFill>
                  <a:srgbClr val="F5F5F0"/>
                </a:solidFill>
                <a:latin typeface="Open Sans"/>
                <a:ea typeface="Open Sans"/>
                <a:cs typeface="Open Sans"/>
                <a:sym typeface="Open Sans"/>
              </a:rPr>
              <a:t>Hackathon - Team : Alex, Axel, &amp; Réka </a:t>
            </a:r>
            <a:endParaRPr b="0" i="0" sz="1600" u="none" cap="none" strike="noStrike">
              <a:solidFill>
                <a:srgbClr val="F5F5F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76250" y="963425"/>
            <a:ext cx="5031900" cy="11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US" sz="4600">
                <a:solidFill>
                  <a:srgbClr val="A9F696"/>
                </a:solidFill>
              </a:rPr>
              <a:t>GUESS WHAT</a:t>
            </a:r>
            <a:r>
              <a:rPr b="0" i="1" lang="en-US" sz="4600" u="none" cap="none" strike="noStrike">
                <a:solidFill>
                  <a:srgbClr val="A9F696"/>
                </a:solidFill>
                <a:latin typeface="Arial"/>
                <a:ea typeface="Arial"/>
                <a:cs typeface="Arial"/>
                <a:sym typeface="Arial"/>
              </a:rPr>
              <a:t>iki</a:t>
            </a:r>
            <a:r>
              <a:rPr b="0" lang="en-US" sz="4600" u="none" cap="none" strike="noStrike">
                <a:solidFill>
                  <a:srgbClr val="A9F696"/>
                </a:solidFill>
                <a:latin typeface="Arial"/>
                <a:ea typeface="Arial"/>
                <a:cs typeface="Arial"/>
                <a:sym typeface="Arial"/>
              </a:rPr>
              <a:t>!?</a:t>
            </a:r>
            <a:endParaRPr b="0" sz="4600" u="none" cap="none" strike="noStrike">
              <a:solidFill>
                <a:srgbClr val="A9F6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23274" y="1473150"/>
            <a:ext cx="4524699" cy="3016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648fd6d695_0_0"/>
          <p:cNvSpPr/>
          <p:nvPr/>
        </p:nvSpPr>
        <p:spPr>
          <a:xfrm>
            <a:off x="606925" y="539225"/>
            <a:ext cx="410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C8F0"/>
                </a:solidFill>
                <a:latin typeface="Arial"/>
                <a:ea typeface="Arial"/>
                <a:cs typeface="Arial"/>
                <a:sym typeface="Arial"/>
              </a:rPr>
              <a:t>Team members</a:t>
            </a:r>
            <a:endParaRPr b="0" i="0" sz="3600" u="none" cap="none" strike="noStrike">
              <a:solidFill>
                <a:srgbClr val="FFC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g3648fd6d695_0_0"/>
          <p:cNvSpPr/>
          <p:nvPr/>
        </p:nvSpPr>
        <p:spPr>
          <a:xfrm>
            <a:off x="7041264" y="3382927"/>
            <a:ext cx="758845" cy="295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33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Réka</a:t>
            </a:r>
            <a:endParaRPr b="0" i="0" sz="15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" name="Google Shape;26;g3648fd6d695_0_0"/>
          <p:cNvSpPr txBox="1"/>
          <p:nvPr/>
        </p:nvSpPr>
        <p:spPr>
          <a:xfrm>
            <a:off x="7075800" y="331375"/>
            <a:ext cx="1780200" cy="3078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A9F696"/>
                </a:solidFill>
              </a:rPr>
              <a:t>GUESS WHATiki!?</a:t>
            </a:r>
            <a:endParaRPr b="0" i="1" sz="1400" u="none" cap="none" strike="noStrike">
              <a:solidFill>
                <a:srgbClr val="A9F69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" name="Google Shape;27;g3648fd6d695_0_0"/>
          <p:cNvPicPr preferRelativeResize="0"/>
          <p:nvPr/>
        </p:nvPicPr>
        <p:blipFill rotWithShape="1">
          <a:blip r:embed="rId4">
            <a:alphaModFix/>
          </a:blip>
          <a:srcRect b="-304" l="4180" r="11062" t="14912"/>
          <a:stretch/>
        </p:blipFill>
        <p:spPr>
          <a:xfrm>
            <a:off x="6772945" y="1980304"/>
            <a:ext cx="1172251" cy="1182891"/>
          </a:xfrm>
          <a:prstGeom prst="ellipse">
            <a:avLst/>
          </a:prstGeom>
          <a:noFill/>
          <a:ln>
            <a:noFill/>
          </a:ln>
        </p:spPr>
      </p:pic>
      <p:sp>
        <p:nvSpPr>
          <p:cNvPr id="28" name="Google Shape;28;g3648fd6d695_0_0"/>
          <p:cNvSpPr/>
          <p:nvPr/>
        </p:nvSpPr>
        <p:spPr>
          <a:xfrm>
            <a:off x="1157416" y="3382901"/>
            <a:ext cx="7587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33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Alex</a:t>
            </a:r>
            <a:endParaRPr b="0" i="0" sz="15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9" name="Google Shape;29;g3648fd6d695_0_0"/>
          <p:cNvSpPr/>
          <p:nvPr/>
        </p:nvSpPr>
        <p:spPr>
          <a:xfrm>
            <a:off x="3980554" y="3382900"/>
            <a:ext cx="7587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333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rPr>
              <a:t>Axel</a:t>
            </a:r>
            <a:endParaRPr b="0" i="0" sz="15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lt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30" name="Google Shape;30;g3648fd6d695_0_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8450" y="1980300"/>
            <a:ext cx="1182901" cy="11829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g3648fd6d695_0_0" title="alexander-annecke.1024x1024.jp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45325" y="1980300"/>
            <a:ext cx="1182900" cy="11829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"/>
          <p:cNvPicPr preferRelativeResize="0"/>
          <p:nvPr/>
        </p:nvPicPr>
        <p:blipFill rotWithShape="1">
          <a:blip r:embed="rId4">
            <a:alphaModFix/>
          </a:blip>
          <a:srcRect b="5571" l="0" r="0" t="5562"/>
          <a:stretch/>
        </p:blipFill>
        <p:spPr>
          <a:xfrm>
            <a:off x="6206835" y="2382618"/>
            <a:ext cx="2649114" cy="204354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"/>
          <p:cNvSpPr/>
          <p:nvPr/>
        </p:nvSpPr>
        <p:spPr>
          <a:xfrm>
            <a:off x="4529075" y="1806312"/>
            <a:ext cx="2517600" cy="1099500"/>
          </a:xfrm>
          <a:prstGeom prst="rect">
            <a:avLst/>
          </a:prstGeom>
          <a:solidFill>
            <a:srgbClr val="FFE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8211875" y="3970525"/>
            <a:ext cx="971100" cy="1030200"/>
          </a:xfrm>
          <a:prstGeom prst="rect">
            <a:avLst/>
          </a:prstGeom>
          <a:solidFill>
            <a:srgbClr val="FFE9F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67574" y="357000"/>
            <a:ext cx="5302843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23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990055"/>
                </a:solidFill>
                <a:latin typeface="Arial"/>
                <a:ea typeface="Arial"/>
                <a:cs typeface="Arial"/>
                <a:sym typeface="Arial"/>
              </a:rPr>
              <a:t>Goal and Description</a:t>
            </a:r>
            <a:endParaRPr b="0" i="0" sz="3000" u="none" cap="none" strike="noStrike">
              <a:solidFill>
                <a:srgbClr val="990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539288" y="3627413"/>
            <a:ext cx="24015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1083808" y="1361960"/>
            <a:ext cx="5038151" cy="1292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85750" lvl="0" marL="419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objective: </a:t>
            </a:r>
            <a:r>
              <a:rPr lang="en-US" sz="1300"/>
              <a:t>find the correct European capital</a:t>
            </a: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using as few steps as possible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191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provided information: a random sentence from the corresponding Wikipedia article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191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once successfully guessed, the player receives feedback on how many steps were required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3335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457200" marR="0" rtl="0" algn="l">
              <a:lnSpc>
                <a:spcPct val="200000"/>
              </a:lnSpc>
              <a:spcBef>
                <a:spcPts val="1000"/>
              </a:spcBef>
              <a:spcAft>
                <a:spcPts val="60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3" name="Google Shape;43;p2"/>
          <p:cNvSpPr txBox="1"/>
          <p:nvPr/>
        </p:nvSpPr>
        <p:spPr>
          <a:xfrm>
            <a:off x="467574" y="3176845"/>
            <a:ext cx="4344300" cy="16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7F7F7F"/>
                </a:solidFill>
              </a:rPr>
              <a:t>Possible extensions:</a:t>
            </a:r>
            <a:endParaRPr sz="1300">
              <a:solidFill>
                <a:srgbClr val="7F7F7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1300">
                <a:solidFill>
                  <a:srgbClr val="7F7F7F"/>
                </a:solidFill>
              </a:rPr>
              <a:t>further languages</a:t>
            </a:r>
            <a:endParaRPr sz="1300">
              <a:solidFill>
                <a:srgbClr val="7F7F7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1300">
                <a:solidFill>
                  <a:srgbClr val="7F7F7F"/>
                </a:solidFill>
              </a:rPr>
              <a:t>categories</a:t>
            </a:r>
            <a:endParaRPr sz="1300">
              <a:solidFill>
                <a:srgbClr val="7F7F7F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Char char="❖"/>
            </a:pPr>
            <a:r>
              <a:rPr lang="en-US" sz="1300">
                <a:solidFill>
                  <a:srgbClr val="7F7F7F"/>
                </a:solidFill>
              </a:rPr>
              <a:t>multiple players and multiple rounds of play</a:t>
            </a:r>
            <a:endParaRPr sz="1200">
              <a:solidFill>
                <a:srgbClr val="7F7F7F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 txBox="1"/>
          <p:nvPr/>
        </p:nvSpPr>
        <p:spPr>
          <a:xfrm>
            <a:off x="7075800" y="331375"/>
            <a:ext cx="1780200" cy="3078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A9F696"/>
                </a:solidFill>
              </a:rPr>
              <a:t>GUESS WHATiki!?</a:t>
            </a:r>
            <a:endParaRPr b="0" i="1" sz="1400" u="none" cap="none" strike="noStrike">
              <a:solidFill>
                <a:srgbClr val="A9F6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3"/>
          <p:cNvPicPr preferRelativeResize="0"/>
          <p:nvPr/>
        </p:nvPicPr>
        <p:blipFill rotWithShape="1">
          <a:blip r:embed="rId4">
            <a:alphaModFix/>
          </a:blip>
          <a:srcRect b="0" l="218" r="219" t="0"/>
          <a:stretch/>
        </p:blipFill>
        <p:spPr>
          <a:xfrm>
            <a:off x="6159557" y="3238207"/>
            <a:ext cx="2579843" cy="1573912"/>
          </a:xfrm>
          <a:prstGeom prst="rect">
            <a:avLst/>
          </a:prstGeom>
          <a:noFill/>
          <a:ln>
            <a:noFill/>
          </a:ln>
        </p:spPr>
      </p:pic>
      <p:sp>
        <p:nvSpPr>
          <p:cNvPr id="51" name="Google Shape;51;p3"/>
          <p:cNvSpPr/>
          <p:nvPr/>
        </p:nvSpPr>
        <p:spPr>
          <a:xfrm>
            <a:off x="4854800" y="2042125"/>
            <a:ext cx="2377274" cy="1651594"/>
          </a:xfrm>
          <a:prstGeom prst="rect">
            <a:avLst/>
          </a:prstGeom>
          <a:solidFill>
            <a:srgbClr val="F5F5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505000" y="427300"/>
            <a:ext cx="82344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3000" u="none" cap="none" strike="noStrike">
                <a:solidFill>
                  <a:srgbClr val="990055"/>
                </a:solidFill>
                <a:latin typeface="Arial"/>
                <a:ea typeface="Arial"/>
                <a:cs typeface="Arial"/>
                <a:sym typeface="Arial"/>
              </a:rPr>
              <a:t>Game Rules</a:t>
            </a:r>
            <a:endParaRPr b="0" i="0" sz="3000" u="none" cap="none" strike="noStrike">
              <a:solidFill>
                <a:srgbClr val="99005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46500" y="1094175"/>
            <a:ext cx="6633000" cy="3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3530" lvl="0" marL="457200" rtl="0" algn="l">
              <a:spcBef>
                <a:spcPts val="1200"/>
              </a:spcBef>
              <a:spcAft>
                <a:spcPts val="0"/>
              </a:spcAft>
              <a:buSzPts val="1180"/>
              <a:buFont typeface="Noto Sans Symbols"/>
              <a:buChar char="❖"/>
            </a:pPr>
            <a:r>
              <a:rPr b="1" lang="en-US"/>
              <a:t>Choose your language:</a:t>
            </a:r>
            <a:r>
              <a:rPr lang="en-US"/>
              <a:t> English or German.</a:t>
            </a:r>
            <a:endParaRPr/>
          </a:p>
          <a:p>
            <a:pPr indent="-303530" lvl="0" marL="457200" rtl="0" algn="l">
              <a:spcBef>
                <a:spcPts val="1200"/>
              </a:spcBef>
              <a:spcAft>
                <a:spcPts val="0"/>
              </a:spcAft>
              <a:buSzPts val="1180"/>
              <a:buFont typeface="Noto Sans Symbols"/>
              <a:buChar char="❖"/>
            </a:pPr>
            <a:r>
              <a:rPr b="1" lang="en-US"/>
              <a:t>Read the clue:</a:t>
            </a:r>
            <a:r>
              <a:rPr lang="en-US"/>
              <a:t> A sentence from a Wikipedia article about a European capital is displayed.</a:t>
            </a:r>
            <a:endParaRPr/>
          </a:p>
          <a:p>
            <a:pPr indent="-303530" lvl="0" marL="457200" rtl="0" algn="l">
              <a:spcBef>
                <a:spcPts val="1200"/>
              </a:spcBef>
              <a:spcAft>
                <a:spcPts val="0"/>
              </a:spcAft>
              <a:buSzPts val="1180"/>
              <a:buFont typeface="Noto Sans Symbols"/>
              <a:buChar char="❖"/>
            </a:pPr>
            <a:r>
              <a:rPr b="1" lang="en-US"/>
              <a:t>Guess the capital:</a:t>
            </a:r>
            <a:r>
              <a:rPr lang="en-US"/>
              <a:t> The city name is blacked out if it appears in the sentence.</a:t>
            </a:r>
            <a:endParaRPr/>
          </a:p>
          <a:p>
            <a:pPr indent="-303530" lvl="0" marL="457200" rtl="0" algn="l">
              <a:spcBef>
                <a:spcPts val="1200"/>
              </a:spcBef>
              <a:spcAft>
                <a:spcPts val="0"/>
              </a:spcAft>
              <a:buSzPts val="1180"/>
              <a:buFont typeface="Noto Sans Symbols"/>
              <a:buChar char="❖"/>
            </a:pPr>
            <a:r>
              <a:rPr b="1" lang="en-US"/>
              <a:t>Get more clues:</a:t>
            </a:r>
            <a:r>
              <a:rPr lang="en-US"/>
              <a:t> Each incorrect guess reveals the next sentence from the article.</a:t>
            </a:r>
            <a:endParaRPr/>
          </a:p>
          <a:p>
            <a:pPr indent="-303530" lvl="0" marL="457200" rtl="0" algn="l">
              <a:spcBef>
                <a:spcPts val="1200"/>
              </a:spcBef>
              <a:spcAft>
                <a:spcPts val="0"/>
              </a:spcAft>
              <a:buSzPts val="1180"/>
              <a:buFont typeface="Noto Sans Symbols"/>
              <a:buChar char="❖"/>
            </a:pPr>
            <a:r>
              <a:rPr b="1" lang="en-US"/>
              <a:t>Use multiple-choice help:</a:t>
            </a:r>
            <a:r>
              <a:rPr lang="en-US"/>
              <a:t> After three incorrect guesses, choose from three cities – one is correct.</a:t>
            </a:r>
            <a:endParaRPr/>
          </a:p>
          <a:p>
            <a:pPr indent="-303530" lvl="0" marL="457200" rtl="0" algn="l">
              <a:spcBef>
                <a:spcPts val="1200"/>
              </a:spcBef>
              <a:spcAft>
                <a:spcPts val="0"/>
              </a:spcAft>
              <a:buSzPts val="1180"/>
              <a:buFont typeface="Noto Sans Symbols"/>
              <a:buChar char="❖"/>
            </a:pPr>
            <a:r>
              <a:rPr b="1" lang="en-US"/>
              <a:t>Win the game:</a:t>
            </a:r>
            <a:r>
              <a:rPr lang="en-US"/>
              <a:t> Guess the correct European capital!</a:t>
            </a:r>
            <a:endParaRPr/>
          </a:p>
          <a:p>
            <a:pPr indent="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 txBox="1"/>
          <p:nvPr/>
        </p:nvSpPr>
        <p:spPr>
          <a:xfrm>
            <a:off x="7075800" y="331375"/>
            <a:ext cx="1780200" cy="3078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A9F696"/>
                </a:solidFill>
              </a:rPr>
              <a:t>GUESS WHATiki!?</a:t>
            </a:r>
            <a:endParaRPr b="0" i="1" sz="1400" u="none" cap="none" strike="noStrike">
              <a:solidFill>
                <a:srgbClr val="A9F6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"/>
          <p:cNvSpPr/>
          <p:nvPr/>
        </p:nvSpPr>
        <p:spPr>
          <a:xfrm>
            <a:off x="1990501" y="1955050"/>
            <a:ext cx="5163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053220"/>
                </a:solidFill>
                <a:latin typeface="Arial"/>
                <a:ea typeface="Arial"/>
                <a:cs typeface="Arial"/>
                <a:sym typeface="Arial"/>
              </a:rPr>
              <a:t>Live Demonstration</a:t>
            </a:r>
            <a:endParaRPr b="0" i="0" sz="3600" u="none" cap="none" strike="noStrike">
              <a:solidFill>
                <a:srgbClr val="05322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/>
          <p:cNvSpPr/>
          <p:nvPr/>
        </p:nvSpPr>
        <p:spPr>
          <a:xfrm>
            <a:off x="467575" y="357000"/>
            <a:ext cx="5267400" cy="72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823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FFC8F0"/>
                </a:solidFill>
                <a:latin typeface="Arial"/>
                <a:ea typeface="Arial"/>
                <a:cs typeface="Arial"/>
                <a:sym typeface="Arial"/>
              </a:rPr>
              <a:t>Group &amp; Personal Reflection</a:t>
            </a:r>
            <a:endParaRPr b="0" i="0" sz="2700" u="none" cap="none" strike="noStrike">
              <a:solidFill>
                <a:srgbClr val="FFC8F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539288" y="3627413"/>
            <a:ext cx="2401500" cy="6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5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descr="1100 Fenster und Glasflächen werden dreimal im Jahr an der Hamburger Elbphilharmonie gereinigt. Foto: dpa" id="68" name="Google Shape;6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3239" y="2551260"/>
            <a:ext cx="3057128" cy="21285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5"/>
          <p:cNvSpPr/>
          <p:nvPr/>
        </p:nvSpPr>
        <p:spPr>
          <a:xfrm>
            <a:off x="5615459" y="2517385"/>
            <a:ext cx="971100" cy="580500"/>
          </a:xfrm>
          <a:prstGeom prst="rect">
            <a:avLst/>
          </a:prstGeom>
          <a:solidFill>
            <a:srgbClr val="775F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8062947" y="4113293"/>
            <a:ext cx="971100" cy="1030200"/>
          </a:xfrm>
          <a:prstGeom prst="rect">
            <a:avLst/>
          </a:prstGeom>
          <a:solidFill>
            <a:srgbClr val="775F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483096" y="2853775"/>
            <a:ext cx="4475400" cy="14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C8F0"/>
                </a:solidFill>
                <a:latin typeface="Open Sans"/>
                <a:ea typeface="Open Sans"/>
                <a:cs typeface="Open Sans"/>
                <a:sym typeface="Open Sans"/>
              </a:rPr>
              <a:t>main challenge </a:t>
            </a:r>
            <a:endParaRPr b="1" sz="900">
              <a:solidFill>
                <a:srgbClr val="C9DAF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C9DAF8"/>
              </a:buClr>
              <a:buSzPts val="1000"/>
              <a:buChar char="●"/>
            </a:pPr>
            <a:r>
              <a:rPr b="1" lang="en-US" sz="1000">
                <a:solidFill>
                  <a:srgbClr val="C9DAF8"/>
                </a:solidFill>
              </a:rPr>
              <a:t>Collaborative brainstorming:</a:t>
            </a:r>
            <a:r>
              <a:rPr lang="en-US" sz="1000">
                <a:solidFill>
                  <a:srgbClr val="C9DAF8"/>
                </a:solidFill>
              </a:rPr>
              <a:t> aligning and harmonizing team members' ideas</a:t>
            </a:r>
            <a:endParaRPr sz="1000">
              <a:solidFill>
                <a:srgbClr val="C9DAF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AF8"/>
              </a:buClr>
              <a:buSzPts val="1000"/>
              <a:buChar char="●"/>
            </a:pPr>
            <a:r>
              <a:rPr b="1" lang="en-US" sz="1000">
                <a:solidFill>
                  <a:srgbClr val="C9DAF8"/>
                </a:solidFill>
              </a:rPr>
              <a:t>Task allocation:</a:t>
            </a:r>
            <a:r>
              <a:rPr lang="en-US" sz="1000">
                <a:solidFill>
                  <a:srgbClr val="C9DAF8"/>
                </a:solidFill>
              </a:rPr>
              <a:t> anticipating how to split the project for an optimal workflow</a:t>
            </a:r>
            <a:endParaRPr sz="1000">
              <a:solidFill>
                <a:srgbClr val="C9DAF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AF8"/>
              </a:buClr>
              <a:buSzPts val="1000"/>
              <a:buChar char="●"/>
            </a:pPr>
            <a:r>
              <a:rPr b="1" lang="en-US" sz="1000">
                <a:solidFill>
                  <a:srgbClr val="C9DAF8"/>
                </a:solidFill>
              </a:rPr>
              <a:t>Integration:</a:t>
            </a:r>
            <a:r>
              <a:rPr lang="en-US" sz="1000">
                <a:solidFill>
                  <a:srgbClr val="C9DAF8"/>
                </a:solidFill>
              </a:rPr>
              <a:t> merging all the ideas together</a:t>
            </a:r>
            <a:endParaRPr sz="1500"/>
          </a:p>
        </p:txBody>
      </p:sp>
      <p:sp>
        <p:nvSpPr>
          <p:cNvPr id="72" name="Google Shape;72;p5"/>
          <p:cNvSpPr txBox="1"/>
          <p:nvPr/>
        </p:nvSpPr>
        <p:spPr>
          <a:xfrm>
            <a:off x="490925" y="1107325"/>
            <a:ext cx="4521900" cy="15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FFC8F0"/>
                </a:solidFill>
                <a:latin typeface="Open Sans"/>
                <a:ea typeface="Open Sans"/>
                <a:cs typeface="Open Sans"/>
                <a:sym typeface="Open Sans"/>
              </a:rPr>
              <a:t>work as a team</a:t>
            </a:r>
            <a:endParaRPr b="1" sz="1000">
              <a:solidFill>
                <a:srgbClr val="C9DAF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C9DAF8"/>
              </a:buClr>
              <a:buSzPts val="1000"/>
              <a:buChar char="●"/>
            </a:pPr>
            <a:r>
              <a:rPr b="1" lang="en-US" sz="1000">
                <a:solidFill>
                  <a:srgbClr val="C9DAF8"/>
                </a:solidFill>
              </a:rPr>
              <a:t>First team project experience:</a:t>
            </a:r>
            <a:r>
              <a:rPr lang="en-US" sz="1000">
                <a:solidFill>
                  <a:srgbClr val="C9DAF8"/>
                </a:solidFill>
              </a:rPr>
              <a:t> Learned to stay open to diverse ideas while practicing how to communicate—and rethink—my own.</a:t>
            </a:r>
            <a:endParaRPr sz="1000">
              <a:solidFill>
                <a:srgbClr val="C9DAF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AF8"/>
              </a:buClr>
              <a:buSzPts val="1000"/>
              <a:buChar char="●"/>
            </a:pPr>
            <a:r>
              <a:rPr b="1" lang="en-US" sz="1000">
                <a:solidFill>
                  <a:srgbClr val="C9DAF8"/>
                </a:solidFill>
              </a:rPr>
              <a:t>Leveraging expertise:</a:t>
            </a:r>
            <a:r>
              <a:rPr lang="en-US" sz="1000">
                <a:solidFill>
                  <a:srgbClr val="C9DAF8"/>
                </a:solidFill>
              </a:rPr>
              <a:t> Benefited greatly from the team’s collective knowledge.</a:t>
            </a:r>
            <a:endParaRPr sz="1000">
              <a:solidFill>
                <a:srgbClr val="C9DAF8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9DAF8"/>
              </a:buClr>
              <a:buSzPts val="1000"/>
              <a:buChar char="●"/>
            </a:pPr>
            <a:r>
              <a:rPr b="1" lang="en-US" sz="1000">
                <a:solidFill>
                  <a:srgbClr val="C9DAF8"/>
                </a:solidFill>
              </a:rPr>
              <a:t>Added value:</a:t>
            </a:r>
            <a:r>
              <a:rPr lang="en-US" sz="1000">
                <a:solidFill>
                  <a:srgbClr val="C9DAF8"/>
                </a:solidFill>
              </a:rPr>
              <a:t> The time invested in alignment meetings was fully recovered through the efficient execution of individual tasks.</a:t>
            </a:r>
            <a:endParaRPr/>
          </a:p>
        </p:txBody>
      </p:sp>
      <p:sp>
        <p:nvSpPr>
          <p:cNvPr id="73" name="Google Shape;73;p5"/>
          <p:cNvSpPr txBox="1"/>
          <p:nvPr/>
        </p:nvSpPr>
        <p:spPr>
          <a:xfrm>
            <a:off x="7075800" y="331375"/>
            <a:ext cx="1780200" cy="307800"/>
          </a:xfrm>
          <a:prstGeom prst="rect">
            <a:avLst/>
          </a:prstGeom>
          <a:solidFill>
            <a:srgbClr val="660066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A9F696"/>
                </a:solidFill>
              </a:rPr>
              <a:t>GUESS WHATiki!?</a:t>
            </a:r>
            <a:endParaRPr b="0" i="1" sz="1400" u="none" cap="none" strike="noStrike">
              <a:solidFill>
                <a:srgbClr val="A9F696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"/>
          <p:cNvSpPr/>
          <p:nvPr/>
        </p:nvSpPr>
        <p:spPr>
          <a:xfrm>
            <a:off x="1990500" y="2031300"/>
            <a:ext cx="51630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en-US" sz="3600" u="none" cap="none" strike="noStrike">
                <a:solidFill>
                  <a:srgbClr val="FFC8F0"/>
                </a:solidFill>
                <a:latin typeface="Arial"/>
                <a:ea typeface="Arial"/>
                <a:cs typeface="Arial"/>
                <a:sym typeface="Arial"/>
              </a:rPr>
              <a:t>Any questions?</a:t>
            </a:r>
            <a:endParaRPr b="0" i="0" sz="3600" u="none" cap="none" strike="noStrike">
              <a:solidFill>
                <a:srgbClr val="FFC8F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 G</dc:creator>
</cp:coreProperties>
</file>